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5EED5E1B-B981-FD4B-394B-396492115215}">
          <p14:sldIdLst>
            <p14:sldId id="256"/>
          </p14:sldIdLst>
        </p14:section>
        <p14:section name="Data" id="{474C05CB-D0BC-E54A-1CC6-78669CA5069B}">
          <p14:sldIdLst>
            <p14:sldId id="257"/>
            <p14:sldId id="258"/>
            <p14:sldId id="259"/>
          </p14:sldIdLst>
        </p14:section>
        <p14:section name="Dashboard" id="{3C85553D-3D9A-EB19-CE40-3EDBF7643955}">
          <p14:sldIdLst>
            <p14:sldId id="260"/>
            <p14:sldId id="261"/>
          </p14:sldIdLst>
        </p14:section>
        <p14:section name="Wrap-up" id="{E081B99F-0D1D-1820-5895-40EB8FA2B808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63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5240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event (INSIGHTVISTA 2026), the subject (Data Analytics and Visualisation, 1 IT508), and the team (Data Dudes).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Raw file: 1,000 rows x 8 columns, no nulls, no duplicates. Problems are about structure and formatting: headers with spaces/slashes, fully quoted values, inconsistent capitalisation of categories, and a math score of 0 that must be checked (kept as a valid score).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Cleaning is structural: rename headers to snake_case, lowercase and trim category labels, make score columns numeric, validate, and export Updated_students_performance.csv. No rows were removed; the 0 math score is a valid value, so it was kept.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final file Updated_students_performance.csv has the same 1,000 records as the raw file, with clean names, consistent labels and numeric scores. It loads directly into Power BI, where gender and race_ethnicity slicers work on clean fields.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dashboard: KPI cards (average math 66.09, reading 69.17, writing 68.05), score share donut, parental education vs test prep line chart, reading vs writing scatter, lunch pie, ethnicity-group combo chart and parental education treemap.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Observations come straight from the dashboard visuals. Reading/writing correlation r = 0.955 was computed on the cleaned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Figures: avg total score by test prep 72.7 vs 65.0; lunch 62.2 vs 70.8 (math gap 11.1); gender math 63.6 vs 68.7 (girls vs boys) and reading/writing 72.6/72.5 vs 65.5/63.3; parental education high school 63.1 vs master's 73.6. Note the dashboard uses Sum of scores in the donut and scatter, which is better shown as averages.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1F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188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INSIGHTVISTA 2026  |  Data Dudes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vent pill"/>
          <p:cNvSpPr/>
          <p:nvPr/>
        </p:nvSpPr>
        <p:spPr>
          <a:xfrm>
            <a:off x="548640" y="685800"/>
            <a:ext cx="2377440" cy="411480"/>
          </a:xfrm>
          <a:prstGeom prst="roundRect">
            <a:avLst>
              <a:gd name="adj" fmla="val 4888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" name="Event name"/>
          <p:cNvSpPr txBox="1"/>
          <p:nvPr/>
        </p:nvSpPr>
        <p:spPr>
          <a:xfrm>
            <a:off x="548640" y="685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INSIGHTVISTA 2026</a:t>
            </a:r>
            <a:endParaRPr lang="en-US" sz="1400" dirty="0"/>
          </a:p>
        </p:txBody>
      </p:sp>
      <p:sp>
        <p:nvSpPr>
          <p:cNvPr id="4" name="Title"/>
          <p:cNvSpPr txBox="1"/>
          <p:nvPr/>
        </p:nvSpPr>
        <p:spPr>
          <a:xfrm>
            <a:off x="548640" y="141732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Performance Data</a:t>
            </a:r>
            <a:endParaRPr lang="en-US" sz="4000" dirty="0"/>
          </a:p>
        </p:txBody>
      </p:sp>
      <p:sp>
        <p:nvSpPr>
          <p:cNvPr id="5" name="Subject details"/>
          <p:cNvSpPr txBox="1"/>
          <p:nvPr/>
        </p:nvSpPr>
        <p:spPr>
          <a:xfrm>
            <a:off x="548640" y="35204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Data Analytics and Visualisation</a:t>
            </a:r>
            <a:endParaRPr lang="en-US" sz="18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Subject Code: 1 IT508</a:t>
            </a:r>
            <a:endParaRPr lang="en-US" sz="1800" dirty="0"/>
          </a:p>
        </p:txBody>
      </p:sp>
      <p:sp>
        <p:nvSpPr>
          <p:cNvPr id="6" name="Group card"/>
          <p:cNvSpPr/>
          <p:nvPr/>
        </p:nvSpPr>
        <p:spPr>
          <a:xfrm>
            <a:off x="5577840" y="822960"/>
            <a:ext cx="3108960" cy="3611880"/>
          </a:xfrm>
          <a:prstGeom prst="roundRect">
            <a:avLst>
              <a:gd name="adj" fmla="val 294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7" name="Group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1097280"/>
            <a:ext cx="411480" cy="411480"/>
          </a:xfrm>
          <a:prstGeom prst="rect">
            <a:avLst/>
          </a:prstGeom>
        </p:spPr>
      </p:pic>
      <p:sp>
        <p:nvSpPr>
          <p:cNvPr id="8" name="Group name"/>
          <p:cNvSpPr txBox="1"/>
          <p:nvPr/>
        </p:nvSpPr>
        <p:spPr>
          <a:xfrm>
            <a:off x="6400800" y="10058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</a:rPr>
              <a:t>GROUP NAME</a:t>
            </a:r>
            <a:endParaRPr lang="en-US" sz="11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Dudes</a:t>
            </a:r>
            <a:endParaRPr lang="en-US" sz="1100" dirty="0"/>
          </a:p>
        </p:txBody>
      </p:sp>
      <p:sp>
        <p:nvSpPr>
          <p:cNvPr id="9" name="Enrollment label"/>
          <p:cNvSpPr txBox="1"/>
          <p:nvPr/>
        </p:nvSpPr>
        <p:spPr>
          <a:xfrm>
            <a:off x="5897880" y="19659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</a:rPr>
              <a:t>ENROLLMENT NUMBERS</a:t>
            </a:r>
            <a:endParaRPr lang="en-US" sz="1100" dirty="0"/>
          </a:p>
        </p:txBody>
      </p:sp>
      <p:sp>
        <p:nvSpPr>
          <p:cNvPr id="10" name="Enrollment numbers"/>
          <p:cNvSpPr txBox="1"/>
          <p:nvPr/>
        </p:nvSpPr>
        <p:spPr>
          <a:xfrm>
            <a:off x="5897880" y="2286000"/>
            <a:ext cx="2651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240840116055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240840116057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240840116063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240840116068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250843116002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Data: Observations and Problems</a:t>
            </a:r>
            <a:endParaRPr lang="en-US" sz="3200" dirty="0"/>
          </a:p>
        </p:txBody>
      </p:sp>
      <p:sp>
        <p:nvSpPr>
          <p:cNvPr id="3" name="Stat tile 1"/>
          <p:cNvSpPr/>
          <p:nvPr/>
        </p:nvSpPr>
        <p:spPr>
          <a:xfrm>
            <a:off x="457200" y="1097280"/>
            <a:ext cx="1325880" cy="128016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Stat text 1"/>
          <p:cNvSpPr txBox="1"/>
          <p:nvPr/>
        </p:nvSpPr>
        <p:spPr>
          <a:xfrm>
            <a:off x="457200" y="1097280"/>
            <a:ext cx="1325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28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student records</a:t>
            </a:r>
            <a:endParaRPr lang="en-US" sz="2800" dirty="0"/>
          </a:p>
        </p:txBody>
      </p:sp>
      <p:sp>
        <p:nvSpPr>
          <p:cNvPr id="5" name="Stat tile 2"/>
          <p:cNvSpPr/>
          <p:nvPr/>
        </p:nvSpPr>
        <p:spPr>
          <a:xfrm>
            <a:off x="1920240" y="1097280"/>
            <a:ext cx="1325880" cy="128016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Stat text 2"/>
          <p:cNvSpPr txBox="1"/>
          <p:nvPr/>
        </p:nvSpPr>
        <p:spPr>
          <a:xfrm>
            <a:off x="1920240" y="1097280"/>
            <a:ext cx="1325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8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columns</a:t>
            </a:r>
            <a:endParaRPr lang="en-US" sz="2800" dirty="0"/>
          </a:p>
        </p:txBody>
      </p:sp>
      <p:sp>
        <p:nvSpPr>
          <p:cNvPr id="7" name="Stat tile 3"/>
          <p:cNvSpPr/>
          <p:nvPr/>
        </p:nvSpPr>
        <p:spPr>
          <a:xfrm>
            <a:off x="457200" y="2514600"/>
            <a:ext cx="1325880" cy="128016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Stat text 3"/>
          <p:cNvSpPr txBox="1"/>
          <p:nvPr/>
        </p:nvSpPr>
        <p:spPr>
          <a:xfrm>
            <a:off x="457200" y="2514600"/>
            <a:ext cx="1325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8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missing values</a:t>
            </a:r>
            <a:endParaRPr lang="en-US" sz="2800" dirty="0"/>
          </a:p>
        </p:txBody>
      </p:sp>
      <p:sp>
        <p:nvSpPr>
          <p:cNvPr id="9" name="Stat tile 4"/>
          <p:cNvSpPr/>
          <p:nvPr/>
        </p:nvSpPr>
        <p:spPr>
          <a:xfrm>
            <a:off x="1920240" y="2514600"/>
            <a:ext cx="1325880" cy="1280160"/>
          </a:xfrm>
          <a:prstGeom prst="roundRect">
            <a:avLst>
              <a:gd name="adj" fmla="val 714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Stat text 4"/>
          <p:cNvSpPr txBox="1"/>
          <p:nvPr/>
        </p:nvSpPr>
        <p:spPr>
          <a:xfrm>
            <a:off x="1920240" y="2514600"/>
            <a:ext cx="1325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8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duplicate rows</a:t>
            </a:r>
            <a:endParaRPr lang="en-US" sz="2800" dirty="0"/>
          </a:p>
        </p:txBody>
      </p:sp>
      <p:sp>
        <p:nvSpPr>
          <p:cNvPr id="11" name="Source note"/>
          <p:cNvSpPr txBox="1"/>
          <p:nvPr/>
        </p:nvSpPr>
        <p:spPr>
          <a:xfrm>
            <a:off x="457200" y="393192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Source: 6__StudentsPerformance.csv. Gender, ethnicity group, parental education, lunch type, test prep, and 3 exam scores.</a:t>
            </a:r>
            <a:endParaRPr lang="en-US" sz="1200" dirty="0"/>
          </a:p>
        </p:txBody>
      </p:sp>
      <p:sp>
        <p:nvSpPr>
          <p:cNvPr id="12" name="Problem card 1"/>
          <p:cNvSpPr/>
          <p:nvPr/>
        </p:nvSpPr>
        <p:spPr>
          <a:xfrm>
            <a:off x="3520440" y="1097280"/>
            <a:ext cx="516636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Problem icon bg 1"/>
          <p:cNvSpPr/>
          <p:nvPr/>
        </p:nvSpPr>
        <p:spPr>
          <a:xfrm>
            <a:off x="3657600" y="128016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4" name="Problem icon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7328" y="1389888"/>
            <a:ext cx="237744" cy="237744"/>
          </a:xfrm>
          <a:prstGeom prst="rect">
            <a:avLst/>
          </a:prstGeom>
        </p:spPr>
      </p:pic>
      <p:sp>
        <p:nvSpPr>
          <p:cNvPr id="15" name="Problem text 1"/>
          <p:cNvSpPr txBox="1"/>
          <p:nvPr/>
        </p:nvSpPr>
        <p:spPr>
          <a:xfrm>
            <a:off x="4251960" y="109728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Messy column headers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Names like "race/ethnicity" and "math score" contain spaces and slashes.</a:t>
            </a:r>
            <a:endParaRPr lang="en-US" sz="1400" dirty="0"/>
          </a:p>
        </p:txBody>
      </p:sp>
      <p:sp>
        <p:nvSpPr>
          <p:cNvPr id="16" name="Problem card 2"/>
          <p:cNvSpPr/>
          <p:nvPr/>
        </p:nvSpPr>
        <p:spPr>
          <a:xfrm>
            <a:off x="3520440" y="2011680"/>
            <a:ext cx="516636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roblem icon bg 2"/>
          <p:cNvSpPr/>
          <p:nvPr/>
        </p:nvSpPr>
        <p:spPr>
          <a:xfrm>
            <a:off x="3657600" y="219456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8" name="Problem icon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7328" y="2304288"/>
            <a:ext cx="237744" cy="237744"/>
          </a:xfrm>
          <a:prstGeom prst="rect">
            <a:avLst/>
          </a:prstGeom>
        </p:spPr>
      </p:pic>
      <p:sp>
        <p:nvSpPr>
          <p:cNvPr id="19" name="Problem text 2"/>
          <p:cNvSpPr txBox="1"/>
          <p:nvPr/>
        </p:nvSpPr>
        <p:spPr>
          <a:xfrm>
            <a:off x="4251960" y="201168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Every value is quoted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Even scores are wrapped in quotes, so tools may import them as text.</a:t>
            </a:r>
            <a:endParaRPr lang="en-US" sz="1400" dirty="0"/>
          </a:p>
        </p:txBody>
      </p:sp>
      <p:sp>
        <p:nvSpPr>
          <p:cNvPr id="20" name="Problem card 3"/>
          <p:cNvSpPr/>
          <p:nvPr/>
        </p:nvSpPr>
        <p:spPr>
          <a:xfrm>
            <a:off x="3520440" y="2926080"/>
            <a:ext cx="516636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Problem icon bg 3"/>
          <p:cNvSpPr/>
          <p:nvPr/>
        </p:nvSpPr>
        <p:spPr>
          <a:xfrm>
            <a:off x="3657600" y="310896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Problem icon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7328" y="3218688"/>
            <a:ext cx="237744" cy="237744"/>
          </a:xfrm>
          <a:prstGeom prst="rect">
            <a:avLst/>
          </a:prstGeom>
        </p:spPr>
      </p:pic>
      <p:sp>
        <p:nvSpPr>
          <p:cNvPr id="23" name="Problem text 3"/>
          <p:cNvSpPr txBox="1"/>
          <p:nvPr/>
        </p:nvSpPr>
        <p:spPr>
          <a:xfrm>
            <a:off x="4251960" y="292608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Inconsistent labels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Categories such as "group B" are capitalised; formats need standardising.</a:t>
            </a:r>
            <a:endParaRPr lang="en-US" sz="1400" dirty="0"/>
          </a:p>
        </p:txBody>
      </p:sp>
      <p:sp>
        <p:nvSpPr>
          <p:cNvPr id="24" name="Problem card 4"/>
          <p:cNvSpPr/>
          <p:nvPr/>
        </p:nvSpPr>
        <p:spPr>
          <a:xfrm>
            <a:off x="3520440" y="3840480"/>
            <a:ext cx="516636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Problem icon bg 4"/>
          <p:cNvSpPr/>
          <p:nvPr/>
        </p:nvSpPr>
        <p:spPr>
          <a:xfrm>
            <a:off x="3657600" y="402336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6" name="Problem icon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7328" y="4133088"/>
            <a:ext cx="237744" cy="237744"/>
          </a:xfrm>
          <a:prstGeom prst="rect">
            <a:avLst/>
          </a:prstGeom>
        </p:spPr>
      </p:pic>
      <p:sp>
        <p:nvSpPr>
          <p:cNvPr id="27" name="Problem text 4"/>
          <p:cNvSpPr txBox="1"/>
          <p:nvPr/>
        </p:nvSpPr>
        <p:spPr>
          <a:xfrm>
            <a:off x="4251960" y="384048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Extreme values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math score of 0 (and 8 math outliers by IQR) needs to be checked.</a:t>
            </a: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and Pre-processing</a:t>
            </a:r>
            <a:endParaRPr lang="en-US" sz="3200" dirty="0"/>
          </a:p>
        </p:txBody>
      </p:sp>
      <p:sp>
        <p:nvSpPr>
          <p:cNvPr id="3" name="Step card 1"/>
          <p:cNvSpPr/>
          <p:nvPr/>
        </p:nvSpPr>
        <p:spPr>
          <a:xfrm>
            <a:off x="457200" y="1097280"/>
            <a:ext cx="429768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ep number bg 1"/>
          <p:cNvSpPr/>
          <p:nvPr/>
        </p:nvSpPr>
        <p:spPr>
          <a:xfrm>
            <a:off x="548640" y="118872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Step number 1"/>
          <p:cNvSpPr txBox="1"/>
          <p:nvPr/>
        </p:nvSpPr>
        <p:spPr>
          <a:xfrm>
            <a:off x="54864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Step text 1"/>
          <p:cNvSpPr txBox="1"/>
          <p:nvPr/>
        </p:nvSpPr>
        <p:spPr>
          <a:xfrm>
            <a:off x="1051560" y="10972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Load raw CSV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1,000 rows x 8 columns</a:t>
            </a:r>
            <a:endParaRPr lang="en-US" sz="1400" dirty="0"/>
          </a:p>
        </p:txBody>
      </p:sp>
      <p:sp>
        <p:nvSpPr>
          <p:cNvPr id="7" name="Step card 2"/>
          <p:cNvSpPr/>
          <p:nvPr/>
        </p:nvSpPr>
        <p:spPr>
          <a:xfrm>
            <a:off x="457200" y="1709928"/>
            <a:ext cx="429768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tep number bg 2"/>
          <p:cNvSpPr/>
          <p:nvPr/>
        </p:nvSpPr>
        <p:spPr>
          <a:xfrm>
            <a:off x="548640" y="1801368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Step number 2"/>
          <p:cNvSpPr txBox="1"/>
          <p:nvPr/>
        </p:nvSpPr>
        <p:spPr>
          <a:xfrm>
            <a:off x="548640" y="1801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Step text 2"/>
          <p:cNvSpPr txBox="1"/>
          <p:nvPr/>
        </p:nvSpPr>
        <p:spPr>
          <a:xfrm>
            <a:off x="1051560" y="170992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Rename columns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lowercase snake_case, e.g. race_ethnicity</a:t>
            </a:r>
            <a:endParaRPr lang="en-US" sz="1400" dirty="0"/>
          </a:p>
        </p:txBody>
      </p:sp>
      <p:sp>
        <p:nvSpPr>
          <p:cNvPr id="11" name="Step card 3"/>
          <p:cNvSpPr/>
          <p:nvPr/>
        </p:nvSpPr>
        <p:spPr>
          <a:xfrm>
            <a:off x="457200" y="2322576"/>
            <a:ext cx="429768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tep number bg 3"/>
          <p:cNvSpPr/>
          <p:nvPr/>
        </p:nvSpPr>
        <p:spPr>
          <a:xfrm>
            <a:off x="548640" y="241401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Step number 3"/>
          <p:cNvSpPr txBox="1"/>
          <p:nvPr/>
        </p:nvSpPr>
        <p:spPr>
          <a:xfrm>
            <a:off x="548640" y="2414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Step text 3"/>
          <p:cNvSpPr txBox="1"/>
          <p:nvPr/>
        </p:nvSpPr>
        <p:spPr>
          <a:xfrm>
            <a:off x="1051560" y="232257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Standardise labels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trim spaces, lowercase text values</a:t>
            </a:r>
            <a:endParaRPr lang="en-US" sz="1400" dirty="0"/>
          </a:p>
        </p:txBody>
      </p:sp>
      <p:sp>
        <p:nvSpPr>
          <p:cNvPr id="15" name="Step card 4"/>
          <p:cNvSpPr/>
          <p:nvPr/>
        </p:nvSpPr>
        <p:spPr>
          <a:xfrm>
            <a:off x="457200" y="2935224"/>
            <a:ext cx="429768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tep number bg 4"/>
          <p:cNvSpPr/>
          <p:nvPr/>
        </p:nvSpPr>
        <p:spPr>
          <a:xfrm>
            <a:off x="548640" y="3026664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Step number 4"/>
          <p:cNvSpPr txBox="1"/>
          <p:nvPr/>
        </p:nvSpPr>
        <p:spPr>
          <a:xfrm>
            <a:off x="548640" y="3026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Step text 4"/>
          <p:cNvSpPr txBox="1"/>
          <p:nvPr/>
        </p:nvSpPr>
        <p:spPr>
          <a:xfrm>
            <a:off x="1051560" y="293522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Fix data types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convert the 3 score columns to integers</a:t>
            </a:r>
            <a:endParaRPr lang="en-US" sz="1400" dirty="0"/>
          </a:p>
        </p:txBody>
      </p:sp>
      <p:sp>
        <p:nvSpPr>
          <p:cNvPr id="19" name="Step card 5"/>
          <p:cNvSpPr/>
          <p:nvPr/>
        </p:nvSpPr>
        <p:spPr>
          <a:xfrm>
            <a:off x="457200" y="3547872"/>
            <a:ext cx="429768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tep number bg 5"/>
          <p:cNvSpPr/>
          <p:nvPr/>
        </p:nvSpPr>
        <p:spPr>
          <a:xfrm>
            <a:off x="548640" y="3639312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Step number 5"/>
          <p:cNvSpPr txBox="1"/>
          <p:nvPr/>
        </p:nvSpPr>
        <p:spPr>
          <a:xfrm>
            <a:off x="548640" y="3639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Step text 5"/>
          <p:cNvSpPr txBox="1"/>
          <p:nvPr/>
        </p:nvSpPr>
        <p:spPr>
          <a:xfrm>
            <a:off x="1051560" y="354787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Validate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0 nulls, 0 duplicates, scores within 0-100</a:t>
            </a:r>
            <a:endParaRPr lang="en-US" sz="1400" dirty="0"/>
          </a:p>
        </p:txBody>
      </p:sp>
      <p:sp>
        <p:nvSpPr>
          <p:cNvPr id="23" name="Step card 6"/>
          <p:cNvSpPr/>
          <p:nvPr/>
        </p:nvSpPr>
        <p:spPr>
          <a:xfrm>
            <a:off x="457200" y="4160520"/>
            <a:ext cx="429768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tep number bg 6"/>
          <p:cNvSpPr/>
          <p:nvPr/>
        </p:nvSpPr>
        <p:spPr>
          <a:xfrm>
            <a:off x="548640" y="425196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Step number 6"/>
          <p:cNvSpPr txBox="1"/>
          <p:nvPr/>
        </p:nvSpPr>
        <p:spPr>
          <a:xfrm>
            <a:off x="548640" y="4251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26" name="Step text 6"/>
          <p:cNvSpPr txBox="1"/>
          <p:nvPr/>
        </p:nvSpPr>
        <p:spPr>
          <a:xfrm>
            <a:off x="1051560" y="41605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Export final CSV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Updated_students_performance.csv</a:t>
            </a:r>
            <a:endParaRPr lang="en-US" sz="1400" dirty="0"/>
          </a:p>
        </p:txBody>
      </p:sp>
      <p:sp>
        <p:nvSpPr>
          <p:cNvPr id="27" name="Code panel"/>
          <p:cNvSpPr/>
          <p:nvPr/>
        </p:nvSpPr>
        <p:spPr>
          <a:xfrm>
            <a:off x="4983480" y="1097280"/>
            <a:ext cx="3703320" cy="3611880"/>
          </a:xfrm>
          <a:prstGeom prst="roundRect">
            <a:avLst>
              <a:gd name="adj" fmla="val 253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8" name="Cleaning code"/>
          <p:cNvSpPr txBox="1"/>
          <p:nvPr/>
        </p:nvSpPr>
        <p:spPr>
          <a:xfrm>
            <a:off x="5120640" y="1188720"/>
            <a:ext cx="34747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6E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pd.read_csv("raw.csv")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df.columns = (df.columns.str.lower()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.str.replace(r"[ /]", "_", regex=True))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= df.select_dtypes("object").columns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df[cat] = df[cat].apply(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lambda s: s.str.strip().str.lower())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["math_score", "reading_score",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"writing_score"]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df[score] = df[score].astype(int)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df.notna().all().all()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df.to_csv(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"Updated_students_performance.csv",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6E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index=False)</a:t>
            </a:r>
            <a:endParaRPr lang="en-US" sz="9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Clean Dataset: Problems Solved</a:t>
            </a:r>
            <a:endParaRPr lang="en-US" sz="3200" dirty="0"/>
          </a:p>
        </p:txBody>
      </p:sp>
      <p:graphicFrame>
        <p:nvGraphicFramePr>
          <p:cNvPr id="5" name="Before and after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63347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Issue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Raw dataset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Final clean dataset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</a:rPr>
                        <a:t>Column names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race/ethnicity, math score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race_ethnicity, math_score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</a:rPr>
                        <a:t>Category labels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group B, mixed formats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group b, consistent lowercase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</a:rPr>
                        <a:t>Score fields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Quoted values ("72")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Integers, range 0-100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</a:rPr>
                        <a:t>Quality checks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Not verified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0 nulls, 0 duplicates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</a:rPr>
                        <a:t>Record count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1,000 rows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1,000 rows (none lost)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sult chip 1"/>
          <p:cNvSpPr/>
          <p:nvPr/>
        </p:nvSpPr>
        <p:spPr>
          <a:xfrm>
            <a:off x="457200" y="3931920"/>
            <a:ext cx="2651760" cy="777240"/>
          </a:xfrm>
          <a:prstGeom prst="roundRect">
            <a:avLst>
              <a:gd name="adj" fmla="val 1176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Result text 1"/>
          <p:cNvSpPr txBox="1"/>
          <p:nvPr/>
        </p:nvSpPr>
        <p:spPr>
          <a:xfrm>
            <a:off x="594360" y="39319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 x 8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tidy, analysis-ready table</a:t>
            </a:r>
            <a:endParaRPr lang="en-US" sz="1600" dirty="0"/>
          </a:p>
        </p:txBody>
      </p:sp>
      <p:sp>
        <p:nvSpPr>
          <p:cNvPr id="6" name="Result chip 2"/>
          <p:cNvSpPr/>
          <p:nvPr/>
        </p:nvSpPr>
        <p:spPr>
          <a:xfrm>
            <a:off x="3246120" y="3931920"/>
            <a:ext cx="2651760" cy="777240"/>
          </a:xfrm>
          <a:prstGeom prst="roundRect">
            <a:avLst>
              <a:gd name="adj" fmla="val 1176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Result text 2"/>
          <p:cNvSpPr txBox="1"/>
          <p:nvPr/>
        </p:nvSpPr>
        <p:spPr>
          <a:xfrm>
            <a:off x="3383280" y="39319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complete, no missing data</a:t>
            </a:r>
            <a:endParaRPr lang="en-US" sz="1600" dirty="0"/>
          </a:p>
        </p:txBody>
      </p:sp>
      <p:sp>
        <p:nvSpPr>
          <p:cNvPr id="8" name="Result chip 3"/>
          <p:cNvSpPr/>
          <p:nvPr/>
        </p:nvSpPr>
        <p:spPr>
          <a:xfrm>
            <a:off x="6035040" y="3931920"/>
            <a:ext cx="2651760" cy="777240"/>
          </a:xfrm>
          <a:prstGeom prst="roundRect">
            <a:avLst>
              <a:gd name="adj" fmla="val 1176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Result text 3"/>
          <p:cNvSpPr txBox="1"/>
          <p:nvPr/>
        </p:nvSpPr>
        <p:spPr>
          <a:xfrm>
            <a:off x="6172200" y="39319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ready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clean fields for slicers and visuals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Visualised Dashboard</a:t>
            </a:r>
            <a:endParaRPr lang="en-US" sz="3200" dirty="0"/>
          </a:p>
        </p:txBody>
      </p:sp>
      <p:pic>
        <p:nvPicPr>
          <p:cNvPr id="3" name="Dashboard screenshot" descr="Student Performance Dashboard with score averages, donut, treemap, scatter and combo char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6656" y="960120"/>
            <a:ext cx="6350688" cy="3520440"/>
          </a:xfrm>
          <a:prstGeom prst="rect">
            <a:avLst/>
          </a:prstGeom>
          <a:effectLst>
            <a:outerShdw blurRad="101600" dist="25400" dir="54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4" name="Dashboard caption"/>
          <p:cNvSpPr txBox="1"/>
          <p:nvPr/>
        </p:nvSpPr>
        <p:spPr>
          <a:xfrm>
            <a:off x="457200" y="4526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accent6"/>
                </a:solidFill>
              </a:rPr>
              <a:t>Student Performance Dashboard with gender and race_ethnicity filters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Observations and Insights</a:t>
            </a:r>
            <a:endParaRPr lang="en-US" sz="3200" dirty="0"/>
          </a:p>
        </p:txBody>
      </p:sp>
      <p:sp>
        <p:nvSpPr>
          <p:cNvPr id="3" name="Insight card 1"/>
          <p:cNvSpPr/>
          <p:nvPr/>
        </p:nvSpPr>
        <p:spPr>
          <a:xfrm>
            <a:off x="457200" y="1097280"/>
            <a:ext cx="2587752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nsight text 1"/>
          <p:cNvSpPr txBox="1"/>
          <p:nvPr/>
        </p:nvSpPr>
        <p:spPr>
          <a:xfrm>
            <a:off x="594360" y="1143000"/>
            <a:ext cx="23134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69.17</a:t>
            </a:r>
            <a:endParaRPr lang="en-US" sz="26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Reading scores lead</a:t>
            </a:r>
            <a:endParaRPr lang="en-US" sz="2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Average reading beats writing (68.05) and math (66.09). Score share is near equal at 32.5 / 34.0 / 33.5%.</a:t>
            </a:r>
            <a:endParaRPr lang="en-US" sz="2600" dirty="0"/>
          </a:p>
        </p:txBody>
      </p:sp>
      <p:sp>
        <p:nvSpPr>
          <p:cNvPr id="5" name="Insight card 2"/>
          <p:cNvSpPr/>
          <p:nvPr/>
        </p:nvSpPr>
        <p:spPr>
          <a:xfrm>
            <a:off x="3278124" y="1097280"/>
            <a:ext cx="2587752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Insight text 2"/>
          <p:cNvSpPr txBox="1"/>
          <p:nvPr/>
        </p:nvSpPr>
        <p:spPr>
          <a:xfrm>
            <a:off x="3415284" y="1143000"/>
            <a:ext cx="23134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0.96</a:t>
            </a:r>
            <a:endParaRPr lang="en-US" sz="26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Reading and writing move together</a:t>
            </a:r>
            <a:endParaRPr lang="en-US" sz="2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scatter plot forms an almost straight line: strong students excel in both.</a:t>
            </a:r>
            <a:endParaRPr lang="en-US" sz="2600" dirty="0"/>
          </a:p>
        </p:txBody>
      </p:sp>
      <p:sp>
        <p:nvSpPr>
          <p:cNvPr id="7" name="Insight card 3"/>
          <p:cNvSpPr/>
          <p:nvPr/>
        </p:nvSpPr>
        <p:spPr>
          <a:xfrm>
            <a:off x="6099048" y="1097280"/>
            <a:ext cx="2587752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Insight text 3"/>
          <p:cNvSpPr txBox="1"/>
          <p:nvPr/>
        </p:nvSpPr>
        <p:spPr>
          <a:xfrm>
            <a:off x="6236208" y="1143000"/>
            <a:ext cx="23134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642 vs 358</a:t>
            </a:r>
            <a:endParaRPr lang="en-US" sz="26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Test prep not completed</a:t>
            </a:r>
            <a:endParaRPr lang="en-US" sz="2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"None" outnumbers "completed" at every parental education level.</a:t>
            </a:r>
            <a:endParaRPr lang="en-US" sz="2600" dirty="0"/>
          </a:p>
        </p:txBody>
      </p:sp>
      <p:sp>
        <p:nvSpPr>
          <p:cNvPr id="9" name="Insight card 4"/>
          <p:cNvSpPr/>
          <p:nvPr/>
        </p:nvSpPr>
        <p:spPr>
          <a:xfrm>
            <a:off x="457200" y="2971800"/>
            <a:ext cx="2587752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Insight text 4"/>
          <p:cNvSpPr txBox="1"/>
          <p:nvPr/>
        </p:nvSpPr>
        <p:spPr>
          <a:xfrm>
            <a:off x="594360" y="3017520"/>
            <a:ext cx="23134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64.5%</a:t>
            </a:r>
            <a:endParaRPr lang="en-US" sz="26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Standard lunch</a:t>
            </a:r>
            <a:endParaRPr lang="en-US" sz="2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355 students (35.5%) receive free or reduced lunch.</a:t>
            </a:r>
            <a:endParaRPr lang="en-US" sz="2600" dirty="0"/>
          </a:p>
        </p:txBody>
      </p:sp>
      <p:sp>
        <p:nvSpPr>
          <p:cNvPr id="11" name="Insight card 5"/>
          <p:cNvSpPr/>
          <p:nvPr/>
        </p:nvSpPr>
        <p:spPr>
          <a:xfrm>
            <a:off x="3278124" y="2971800"/>
            <a:ext cx="2587752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Insight text 5"/>
          <p:cNvSpPr txBox="1"/>
          <p:nvPr/>
        </p:nvSpPr>
        <p:spPr>
          <a:xfrm>
            <a:off x="3415284" y="3017520"/>
            <a:ext cx="23134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319</a:t>
            </a:r>
            <a:endParaRPr lang="en-US" sz="26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Group C is largest</a:t>
            </a:r>
            <a:endParaRPr lang="en-US" sz="2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Followed by D (262), B (190), E (140); group A is smallest (89).</a:t>
            </a:r>
            <a:endParaRPr lang="en-US" sz="2600" dirty="0"/>
          </a:p>
        </p:txBody>
      </p:sp>
      <p:sp>
        <p:nvSpPr>
          <p:cNvPr id="13" name="Insight card 6"/>
          <p:cNvSpPr/>
          <p:nvPr/>
        </p:nvSpPr>
        <p:spPr>
          <a:xfrm>
            <a:off x="6099048" y="2971800"/>
            <a:ext cx="2587752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nsight text 6"/>
          <p:cNvSpPr txBox="1"/>
          <p:nvPr/>
        </p:nvSpPr>
        <p:spPr>
          <a:xfrm>
            <a:off x="6236208" y="3017520"/>
            <a:ext cx="231343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44.8%</a:t>
            </a:r>
            <a:endParaRPr lang="en-US" sz="26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Parents: some college or associate's</a:t>
            </a:r>
            <a:endParaRPr lang="en-US" sz="26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Master's degree is rare (5.9%); counts fall as education rises.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200" dirty="0"/>
          </a:p>
        </p:txBody>
      </p:sp>
      <p:sp>
        <p:nvSpPr>
          <p:cNvPr id="3" name="Recommendation card 1"/>
          <p:cNvSpPr/>
          <p:nvPr/>
        </p:nvSpPr>
        <p:spPr>
          <a:xfrm>
            <a:off x="457200" y="1097280"/>
            <a:ext cx="516636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Recommendation icon bg 1"/>
          <p:cNvSpPr/>
          <p:nvPr/>
        </p:nvSpPr>
        <p:spPr>
          <a:xfrm>
            <a:off x="594360" y="1280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Recommendation icon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389888"/>
            <a:ext cx="237744" cy="237744"/>
          </a:xfrm>
          <a:prstGeom prst="rect">
            <a:avLst/>
          </a:prstGeom>
        </p:spPr>
      </p:pic>
      <p:sp>
        <p:nvSpPr>
          <p:cNvPr id="6" name="Recommendation text 1"/>
          <p:cNvSpPr txBox="1"/>
          <p:nvPr/>
        </p:nvSpPr>
        <p:spPr>
          <a:xfrm>
            <a:off x="1188720" y="109728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Expand test-prep courses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Completers average 72.7 vs 65.0, yet only 35.8% of students have taken one.</a:t>
            </a:r>
            <a:endParaRPr lang="en-US" sz="1400" dirty="0"/>
          </a:p>
        </p:txBody>
      </p:sp>
      <p:sp>
        <p:nvSpPr>
          <p:cNvPr id="7" name="Recommendation card 2"/>
          <p:cNvSpPr/>
          <p:nvPr/>
        </p:nvSpPr>
        <p:spPr>
          <a:xfrm>
            <a:off x="457200" y="2011680"/>
            <a:ext cx="516636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Recommendation icon bg 2"/>
          <p:cNvSpPr/>
          <p:nvPr/>
        </p:nvSpPr>
        <p:spPr>
          <a:xfrm>
            <a:off x="594360" y="21945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9" name="Recommendation icon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2304288"/>
            <a:ext cx="237744" cy="237744"/>
          </a:xfrm>
          <a:prstGeom prst="rect">
            <a:avLst/>
          </a:prstGeom>
        </p:spPr>
      </p:pic>
      <p:sp>
        <p:nvSpPr>
          <p:cNvPr id="10" name="Recommendation text 2"/>
          <p:cNvSpPr txBox="1"/>
          <p:nvPr/>
        </p:nvSpPr>
        <p:spPr>
          <a:xfrm>
            <a:off x="1188720" y="201168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Support free/reduced-lunch students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Average score 62.2 vs 70.8; the widest gap is in math (11.1 points).</a:t>
            </a:r>
            <a:endParaRPr lang="en-US" sz="1400" dirty="0"/>
          </a:p>
        </p:txBody>
      </p:sp>
      <p:sp>
        <p:nvSpPr>
          <p:cNvPr id="11" name="Recommendation card 3"/>
          <p:cNvSpPr/>
          <p:nvPr/>
        </p:nvSpPr>
        <p:spPr>
          <a:xfrm>
            <a:off x="457200" y="2926080"/>
            <a:ext cx="516636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Recommendation icon bg 3"/>
          <p:cNvSpPr/>
          <p:nvPr/>
        </p:nvSpPr>
        <p:spPr>
          <a:xfrm>
            <a:off x="594360" y="31089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Recommendation icon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" y="3218688"/>
            <a:ext cx="237744" cy="237744"/>
          </a:xfrm>
          <a:prstGeom prst="rect">
            <a:avLst/>
          </a:prstGeom>
        </p:spPr>
      </p:pic>
      <p:sp>
        <p:nvSpPr>
          <p:cNvPr id="14" name="Recommendation text 3"/>
          <p:cNvSpPr txBox="1"/>
          <p:nvPr/>
        </p:nvSpPr>
        <p:spPr>
          <a:xfrm>
            <a:off x="1188720" y="292608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Target subject gaps by gender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Math help for girls (63.6 vs 68.7); reading and writing for boys (7-9 points behind).</a:t>
            </a:r>
            <a:endParaRPr lang="en-US" sz="1400" dirty="0"/>
          </a:p>
        </p:txBody>
      </p:sp>
      <p:sp>
        <p:nvSpPr>
          <p:cNvPr id="15" name="Recommendation card 4"/>
          <p:cNvSpPr/>
          <p:nvPr/>
        </p:nvSpPr>
        <p:spPr>
          <a:xfrm>
            <a:off x="457200" y="3840480"/>
            <a:ext cx="516636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Recommendation icon bg 4"/>
          <p:cNvSpPr/>
          <p:nvPr/>
        </p:nvSpPr>
        <p:spPr>
          <a:xfrm>
            <a:off x="594360" y="40233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Recommendation icon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" y="4133088"/>
            <a:ext cx="237744" cy="237744"/>
          </a:xfrm>
          <a:prstGeom prst="rect">
            <a:avLst/>
          </a:prstGeom>
        </p:spPr>
      </p:pic>
      <p:sp>
        <p:nvSpPr>
          <p:cNvPr id="18" name="Recommendation text 4"/>
          <p:cNvSpPr txBox="1"/>
          <p:nvPr/>
        </p:nvSpPr>
        <p:spPr>
          <a:xfrm>
            <a:off x="1188720" y="3840480"/>
            <a:ext cx="4343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Mentor lower-parental-education homes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High school averages 63.1 vs 73.6 for a master's; add tutoring and mentoring.</a:t>
            </a:r>
            <a:endParaRPr lang="en-US" sz="1400" dirty="0"/>
          </a:p>
        </p:txBody>
      </p:sp>
      <p:sp>
        <p:nvSpPr>
          <p:cNvPr id="19" name="Dashboard improvements panel"/>
          <p:cNvSpPr/>
          <p:nvPr/>
        </p:nvSpPr>
        <p:spPr>
          <a:xfrm>
            <a:off x="5852160" y="1097280"/>
            <a:ext cx="2834640" cy="3566160"/>
          </a:xfrm>
          <a:prstGeom prst="roundRect">
            <a:avLst>
              <a:gd name="adj" fmla="val 322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Dashboard improvements"/>
          <p:cNvSpPr txBox="1"/>
          <p:nvPr/>
        </p:nvSpPr>
        <p:spPr>
          <a:xfrm>
            <a:off x="6035040" y="1234440"/>
            <a:ext cx="2514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 the dashboard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Show averages instead of sums in the donut and scatter plot.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Plot individual students to expose outliers.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Add average score by test prep and lunch type.</a:t>
            </a:r>
            <a:endParaRPr lang="en-US" sz="1400" dirty="0"/>
          </a:p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</a:rPr>
              <a:t>These are associations, not proof of cause.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188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sightVista">
  <a:themeElements>
    <a:clrScheme name="InsightVista">
      <a:dk1>
        <a:srgbClr val="1F2937"/>
      </a:dk1>
      <a:lt1>
        <a:srgbClr val="FFFFFF"/>
      </a:lt1>
      <a:dk2>
        <a:srgbClr val="0B1F5C"/>
      </a:dk2>
      <a:lt2>
        <a:srgbClr val="EEF3FB"/>
      </a:lt2>
      <a:accent1>
        <a:srgbClr val="118DFF"/>
      </a:accent1>
      <a:accent2>
        <a:srgbClr val="E66C37"/>
      </a:accent2>
      <a:accent3>
        <a:srgbClr val="12239E"/>
      </a:accent3>
      <a:accent4>
        <a:srgbClr val="6A0F7F"/>
      </a:accent4>
      <a:accent5>
        <a:srgbClr val="2E7D6B"/>
      </a:accent5>
      <a:accent6>
        <a:srgbClr val="6B7280"/>
      </a:accent6>
      <a:hlink>
        <a:srgbClr val="118DFF"/>
      </a:hlink>
      <a:folHlink>
        <a:srgbClr val="6A0F7F"/>
      </a:folHlink>
    </a:clrScheme>
    <a:fontScheme name="InsightVista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1049</Words>
  <Application>Microsoft Office PowerPoint</Application>
  <PresentationFormat>On-screen Show (16:9)</PresentationFormat>
  <Paragraphs>144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Courier New</vt:lpstr>
      <vt:lpstr>InsightVista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Performance Data - INSIGHTVISTA 2026</dc:title>
  <dc:subject>PptxGenJS Presentation</dc:subject>
  <dc:creator>Data Dudes</dc:creator>
  <cp:lastModifiedBy>Rudra Naik</cp:lastModifiedBy>
  <cp:revision>2</cp:revision>
  <dcterms:created xsi:type="dcterms:W3CDTF">2026-10-12T08:03:04Z</dcterms:created>
  <dcterms:modified xsi:type="dcterms:W3CDTF">2026-10-12T08:10:42Z</dcterms:modified>
</cp:coreProperties>
</file>